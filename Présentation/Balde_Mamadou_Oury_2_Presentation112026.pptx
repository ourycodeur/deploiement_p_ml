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560320"/>
            <a:ext cx="2743200" cy="2743200"/>
          </a:xfrm>
          <a:prstGeom prst="ellipse">
            <a:avLst/>
          </a:prstGeom>
          <a:solidFill>
            <a:srgbClr val="00C89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14400"/>
            <a:ext cx="3108960" cy="365760"/>
          </a:xfrm>
          <a:prstGeom prst="roundRect">
            <a:avLst>
              <a:gd name="adj" fmla="val 12500"/>
            </a:avLst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PROJET DATA SCIENCE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Prédiction des Émissions CO₂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&amp; Consommation Énergétique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Bâtiments non résidentiels — Ville de Seattle (2016)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74904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896"/>
                </a:solidFill>
              </a:rPr>
              <a:t>Étudiant OpenClassrooms  |  Formation Data Scientist Machine Learning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Début : 13/02/2026   ·   Fin : 26/02/2026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Machine Learning  ·  EDA  ·  Feature Engineering  ·  Modélisation  ·  GridSearchCV  ·  Feature Importance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Librairies Python utilisées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</a:rPr>
              <a:t>Ecosystème data science de référence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2011680" cy="29718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2011680" cy="64008"/>
          </a:xfrm>
          <a:prstGeom prst="rect">
            <a:avLst/>
          </a:prstGeom>
          <a:solidFill>
            <a:srgbClr val="4DABC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1737360" cy="777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965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NumPy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340864"/>
            <a:ext cx="731520" cy="36576"/>
          </a:xfrm>
          <a:prstGeom prst="rect">
            <a:avLst/>
          </a:prstGeom>
          <a:solidFill>
            <a:srgbClr val="4DABCF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246888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Calcul numérique, tableaux multidimensionnels et opérations mathématiques avancées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23160" y="987552"/>
            <a:ext cx="2011680" cy="29718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23160" y="987552"/>
            <a:ext cx="2011680" cy="64008"/>
          </a:xfrm>
          <a:prstGeom prst="rect">
            <a:avLst/>
          </a:prstGeom>
          <a:solidFill>
            <a:srgbClr val="E70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097280"/>
            <a:ext cx="173736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1965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Pandas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063240" y="2340864"/>
            <a:ext cx="731520" cy="36576"/>
          </a:xfrm>
          <a:prstGeom prst="rect">
            <a:avLst/>
          </a:prstGeom>
          <a:solidFill>
            <a:srgbClr val="E70488"/>
          </a:solidFill>
          <a:ln/>
        </p:spPr>
      </p:sp>
      <p:sp>
        <p:nvSpPr>
          <p:cNvPr id="16" name="Text 12"/>
          <p:cNvSpPr/>
          <p:nvPr/>
        </p:nvSpPr>
        <p:spPr>
          <a:xfrm>
            <a:off x="2514600" y="246888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Manipulation et analyse de données tabulaires, DataFrames, nettoyage des données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17720" y="987552"/>
            <a:ext cx="2011680" cy="29718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17720" y="987552"/>
            <a:ext cx="2011680" cy="64008"/>
          </a:xfrm>
          <a:prstGeom prst="rect">
            <a:avLst/>
          </a:prstGeom>
          <a:solidFill>
            <a:srgbClr val="F7A12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97280"/>
            <a:ext cx="1737360" cy="7772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9160" y="1965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Matplotlib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257800" y="2340864"/>
            <a:ext cx="731520" cy="36576"/>
          </a:xfrm>
          <a:prstGeom prst="rect">
            <a:avLst/>
          </a:prstGeom>
          <a:solidFill>
            <a:srgbClr val="F7A128"/>
          </a:solidFill>
          <a:ln/>
        </p:spPr>
      </p:sp>
      <p:sp>
        <p:nvSpPr>
          <p:cNvPr id="22" name="Text 17"/>
          <p:cNvSpPr/>
          <p:nvPr/>
        </p:nvSpPr>
        <p:spPr>
          <a:xfrm>
            <a:off x="4709160" y="246888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Visualisation 2D, graphiques, histogrammes, scatter plots, personnalisation avancée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812280" y="987552"/>
            <a:ext cx="2011680" cy="297180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12280" y="987552"/>
            <a:ext cx="2011680" cy="64008"/>
          </a:xfrm>
          <a:prstGeom prst="rect">
            <a:avLst/>
          </a:prstGeom>
          <a:solidFill>
            <a:srgbClr val="DD845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097280"/>
            <a:ext cx="1737360" cy="7772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903720" y="19659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Seaborn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7452360" y="2340864"/>
            <a:ext cx="731520" cy="36576"/>
          </a:xfrm>
          <a:prstGeom prst="rect">
            <a:avLst/>
          </a:prstGeom>
          <a:solidFill>
            <a:srgbClr val="DD8452"/>
          </a:solidFill>
          <a:ln/>
        </p:spPr>
      </p:sp>
      <p:sp>
        <p:nvSpPr>
          <p:cNvPr id="28" name="Text 22"/>
          <p:cNvSpPr/>
          <p:nvPr/>
        </p:nvSpPr>
        <p:spPr>
          <a:xfrm>
            <a:off x="6903720" y="2468880"/>
            <a:ext cx="18288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Visualisation statistique, heatmaps, distributions, corrélation, esthétique avancée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  ·  import numpy as np  ·  import matplotlib.pyplot as plt  ·  import seaborn as sns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Contexte du Projet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206240" cy="40233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4864" cy="4023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5039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Situation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Des relevés minutieux ont été effectués par les agents de la ville de Seattle en 2016. Ces relevés sont coûteux à obtenir.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Objectif : Prédire les émissions de CO₂ et la consommation totale d'énergie des bâtiments non destinés à l'habitation, à partir de leurs données structurelles.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Variables structurelles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Taille &amp; usage des bâtiments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Date de construction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B949E"/>
                </a:solidFill>
              </a:rPr>
              <a:t>Situation géographique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114800" cy="40233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749808"/>
            <a:ext cx="54864" cy="4023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85039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Livrables attendus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1389888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389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1389888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Analyse exploratoire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16459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Insights clés sur les différents bâtiments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83480" y="2468880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2468880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Modélisation supervisée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0" y="27249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Tests de différents modèles de régression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83480" y="3547872"/>
            <a:ext cx="411480" cy="41148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547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3547872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Feature importance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8039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Facteurs principaux impactant les 2 modèles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ÉTAPE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Analyse Exploratoire — Aperçu des données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Chargement et exploration initiale du dataset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5029200" cy="193852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50292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44074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building_consumptions.head()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992624" cy="16459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4320" y="2706624"/>
            <a:ext cx="502920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706624"/>
            <a:ext cx="50292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338328" y="2761488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484632" y="2761488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" y="2761488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2743200"/>
            <a:ext cx="44074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Filtrage bâtiments non résidentiels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2608" y="2962656"/>
            <a:ext cx="4992624" cy="78638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74320" y="3621024"/>
            <a:ext cx="502920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3621024"/>
            <a:ext cx="50292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23" name="Shape 19"/>
          <p:cNvSpPr/>
          <p:nvPr/>
        </p:nvSpPr>
        <p:spPr>
          <a:xfrm>
            <a:off x="338328" y="3675888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24" name="Shape 20"/>
          <p:cNvSpPr/>
          <p:nvPr/>
        </p:nvSpPr>
        <p:spPr>
          <a:xfrm>
            <a:off x="484632" y="3675888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25" name="Shape 21"/>
          <p:cNvSpPr/>
          <p:nvPr/>
        </p:nvSpPr>
        <p:spPr>
          <a:xfrm>
            <a:off x="630936" y="3675888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26" name="Text 22"/>
          <p:cNvSpPr/>
          <p:nvPr/>
        </p:nvSpPr>
        <p:spPr>
          <a:xfrm>
            <a:off x="822960" y="3657600"/>
            <a:ext cx="44074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building_consumptions['BuildingType'].value_counts()</a:t>
            </a:r>
            <a:endParaRPr lang="en-US" sz="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2608" y="3877056"/>
            <a:ext cx="4992624" cy="1078992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577840" y="914400"/>
            <a:ext cx="3291840" cy="123444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577840" y="914400"/>
            <a:ext cx="45720" cy="123444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0" name="Text 25"/>
          <p:cNvSpPr/>
          <p:nvPr/>
        </p:nvSpPr>
        <p:spPr>
          <a:xfrm>
            <a:off x="5715000" y="98755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 source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5715000" y="129844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2016_Building_Energy_Benchmarking.csv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Données structurelles + consommation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Ville de Seattle — Données publiques 2016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5577840" y="2304288"/>
            <a:ext cx="3291840" cy="132588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5577840" y="2304288"/>
            <a:ext cx="45720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29"/>
          <p:cNvSpPr/>
          <p:nvPr/>
        </p:nvSpPr>
        <p:spPr>
          <a:xfrm>
            <a:off x="5715000" y="23957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Types de bâtiments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715000" y="2715768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NonResidential : 1468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Nonresidential COS : 85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8B949E"/>
                </a:solidFill>
              </a:rPr>
              <a:t>WA Non residential : 1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7" name="Text 32"/>
          <p:cNvSpPr/>
          <p:nvPr/>
        </p:nvSpPr>
        <p:spPr>
          <a:xfrm>
            <a:off x="731520" y="489204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1554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731520" y="5029200"/>
            <a:ext cx="1645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Lignes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743200" y="489204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46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2743200" y="5029200"/>
            <a:ext cx="1645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Colonnes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4754880" y="489204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2016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4754880" y="5029200"/>
            <a:ext cx="1645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Année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6766560" y="489204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3 types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6766560" y="5029200"/>
            <a:ext cx="164592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Bâtiments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ÉTAPE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Analyse Exploratoire — Outliers &amp; Variable Cible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Boxplots, détection des valeurs extrêmes, sélection de la target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14800" cy="2240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1148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34930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 — PropertyGFATotal vs BuildingType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078224" cy="19476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0" y="914400"/>
            <a:ext cx="4297680" cy="2240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914400"/>
            <a:ext cx="429768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463600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478231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492861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950976"/>
            <a:ext cx="3675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 — PropertyGFABuilding vs BuildingType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0288" y="1170432"/>
            <a:ext cx="4261104" cy="194767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74320" y="3017520"/>
            <a:ext cx="4114800" cy="19659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3017520"/>
            <a:ext cx="41148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23" name="Shape 19"/>
          <p:cNvSpPr/>
          <p:nvPr/>
        </p:nvSpPr>
        <p:spPr>
          <a:xfrm>
            <a:off x="338328" y="307238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24" name="Shape 20"/>
          <p:cNvSpPr/>
          <p:nvPr/>
        </p:nvSpPr>
        <p:spPr>
          <a:xfrm>
            <a:off x="484632" y="307238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25" name="Shape 21"/>
          <p:cNvSpPr/>
          <p:nvPr/>
        </p:nvSpPr>
        <p:spPr>
          <a:xfrm>
            <a:off x="630936" y="307238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26" name="Text 22"/>
          <p:cNvSpPr/>
          <p:nvPr/>
        </p:nvSpPr>
        <p:spPr>
          <a:xfrm>
            <a:off x="822960" y="3054096"/>
            <a:ext cx="34930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 — Distribution SiteEnergyUse (kBtu)</a:t>
            </a:r>
            <a:endParaRPr lang="en-US" sz="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2608" y="3273552"/>
            <a:ext cx="4078224" cy="1673352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4572000" y="3017520"/>
            <a:ext cx="4297680" cy="1691640"/>
          </a:xfrm>
          <a:prstGeom prst="rect">
            <a:avLst/>
          </a:prstGeom>
          <a:solidFill>
            <a:srgbClr val="022C22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4754880" y="3090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🎯  Variable cible retenue</a:t>
            </a:r>
            <a:endParaRPr lang="en-US" sz="1400" dirty="0"/>
          </a:p>
        </p:txBody>
      </p:sp>
      <p:sp>
        <p:nvSpPr>
          <p:cNvPr id="30" name="Shape 25"/>
          <p:cNvSpPr/>
          <p:nvPr/>
        </p:nvSpPr>
        <p:spPr>
          <a:xfrm>
            <a:off x="4754880" y="3511296"/>
            <a:ext cx="3108960" cy="347472"/>
          </a:xfrm>
          <a:prstGeom prst="rect">
            <a:avLst/>
          </a:prstGeom>
          <a:solidFill>
            <a:srgbClr val="0D1B2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754880" y="35112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SiteEnergyUse(kBtu)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4754880" y="39319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Consommation énergétique totale du bâtiment.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Prédire pour les bâtiments non encore mesurés.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ÉTAPE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Engineering — Nouvelles Variables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Âge du bâtiment et ratio énergie / surface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206240" cy="1325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20624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35844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 age_bat = année_actuelle − YearBuilt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169664" cy="10332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4320" y="2084832"/>
            <a:ext cx="4206240" cy="22402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2084832"/>
            <a:ext cx="420624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338328" y="2139696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484632" y="2139696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" y="2139696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2121408"/>
            <a:ext cx="35844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Histplot — Distribution de l'âge des bâtiments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2608" y="2340864"/>
            <a:ext cx="4169664" cy="194767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754880" y="914400"/>
            <a:ext cx="411480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54880" y="914400"/>
            <a:ext cx="41148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23" name="Shape 19"/>
          <p:cNvSpPr/>
          <p:nvPr/>
        </p:nvSpPr>
        <p:spPr>
          <a:xfrm>
            <a:off x="481888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24" name="Shape 20"/>
          <p:cNvSpPr/>
          <p:nvPr/>
        </p:nvSpPr>
        <p:spPr>
          <a:xfrm>
            <a:off x="496519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25" name="Shape 21"/>
          <p:cNvSpPr/>
          <p:nvPr/>
        </p:nvSpPr>
        <p:spPr>
          <a:xfrm>
            <a:off x="511149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26" name="Text 22"/>
          <p:cNvSpPr/>
          <p:nvPr/>
        </p:nvSpPr>
        <p:spPr>
          <a:xfrm>
            <a:off x="5303520" y="950976"/>
            <a:ext cx="34930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 Energy_per_m² (ratio énergie / surface)</a:t>
            </a:r>
            <a:endParaRPr lang="en-US" sz="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73168" y="1170432"/>
            <a:ext cx="4078224" cy="1216152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4754880" y="2267712"/>
            <a:ext cx="411480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54880" y="2267712"/>
            <a:ext cx="41148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30" name="Shape 25"/>
          <p:cNvSpPr/>
          <p:nvPr/>
        </p:nvSpPr>
        <p:spPr>
          <a:xfrm>
            <a:off x="4818888" y="2322576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31" name="Shape 26"/>
          <p:cNvSpPr/>
          <p:nvPr/>
        </p:nvSpPr>
        <p:spPr>
          <a:xfrm>
            <a:off x="4965192" y="2322576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32" name="Shape 27"/>
          <p:cNvSpPr/>
          <p:nvPr/>
        </p:nvSpPr>
        <p:spPr>
          <a:xfrm>
            <a:off x="5111496" y="2322576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33" name="Text 28"/>
          <p:cNvSpPr/>
          <p:nvPr/>
        </p:nvSpPr>
        <p:spPr>
          <a:xfrm>
            <a:off x="5303520" y="2304288"/>
            <a:ext cx="34930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visualisation distribution énergie/surface</a:t>
            </a:r>
            <a:endParaRPr lang="en-US" sz="8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73168" y="2523744"/>
            <a:ext cx="4078224" cy="786384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754880" y="3182112"/>
            <a:ext cx="4114800" cy="181051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754880" y="3182112"/>
            <a:ext cx="41148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37" name="Shape 31"/>
          <p:cNvSpPr/>
          <p:nvPr/>
        </p:nvSpPr>
        <p:spPr>
          <a:xfrm>
            <a:off x="4818888" y="3236976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38" name="Shape 32"/>
          <p:cNvSpPr/>
          <p:nvPr/>
        </p:nvSpPr>
        <p:spPr>
          <a:xfrm>
            <a:off x="4965192" y="3236976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39" name="Shape 33"/>
          <p:cNvSpPr/>
          <p:nvPr/>
        </p:nvSpPr>
        <p:spPr>
          <a:xfrm>
            <a:off x="5111496" y="3236976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40" name="Text 34"/>
          <p:cNvSpPr/>
          <p:nvPr/>
        </p:nvSpPr>
        <p:spPr>
          <a:xfrm>
            <a:off x="5303520" y="3218688"/>
            <a:ext cx="34930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Histplot — Distribution consommation par surface</a:t>
            </a:r>
            <a:endParaRPr lang="en-US" sz="8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73168" y="3438144"/>
            <a:ext cx="4078224" cy="15179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ÉTAPE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Engineering — Suppression des Colonnes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Data leakage éliminé · 48 colonnes → 14 colonnes retenues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5029200" cy="257860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50292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44074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Suppression colonnes — data leakage éliminé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992624" cy="22860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74320" y="3328416"/>
            <a:ext cx="5029200" cy="122529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3328416"/>
            <a:ext cx="50292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338328" y="3383280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484632" y="3383280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" y="3383280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3364992"/>
            <a:ext cx="44074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df.columns.nunique() → 14 colonnes retenues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2608" y="3584448"/>
            <a:ext cx="4992624" cy="93268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577840" y="914400"/>
            <a:ext cx="329184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577840" y="914400"/>
            <a:ext cx="329184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23" name="Shape 19"/>
          <p:cNvSpPr/>
          <p:nvPr/>
        </p:nvSpPr>
        <p:spPr>
          <a:xfrm>
            <a:off x="564184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24" name="Shape 20"/>
          <p:cNvSpPr/>
          <p:nvPr/>
        </p:nvSpPr>
        <p:spPr>
          <a:xfrm>
            <a:off x="578815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25" name="Shape 21"/>
          <p:cNvSpPr/>
          <p:nvPr/>
        </p:nvSpPr>
        <p:spPr>
          <a:xfrm>
            <a:off x="593445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26" name="Text 22"/>
          <p:cNvSpPr/>
          <p:nvPr/>
        </p:nvSpPr>
        <p:spPr>
          <a:xfrm>
            <a:off x="6126480" y="950976"/>
            <a:ext cx="26700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Colonnes numériques (select_dtypes)</a:t>
            </a:r>
            <a:endParaRPr lang="en-US" sz="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96128" y="1170432"/>
            <a:ext cx="3255264" cy="1444752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577840" y="2514600"/>
            <a:ext cx="329184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577840" y="2514600"/>
            <a:ext cx="329184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30" name="Shape 25"/>
          <p:cNvSpPr/>
          <p:nvPr/>
        </p:nvSpPr>
        <p:spPr>
          <a:xfrm>
            <a:off x="5641848" y="25694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31" name="Shape 26"/>
          <p:cNvSpPr/>
          <p:nvPr/>
        </p:nvSpPr>
        <p:spPr>
          <a:xfrm>
            <a:off x="5788152" y="25694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32" name="Shape 27"/>
          <p:cNvSpPr/>
          <p:nvPr/>
        </p:nvSpPr>
        <p:spPr>
          <a:xfrm>
            <a:off x="5934456" y="25694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33" name="Text 28"/>
          <p:cNvSpPr/>
          <p:nvPr/>
        </p:nvSpPr>
        <p:spPr>
          <a:xfrm>
            <a:off x="6126480" y="2551176"/>
            <a:ext cx="26700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Colonnes catégorielles</a:t>
            </a:r>
            <a:endParaRPr lang="en-US" sz="8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96128" y="2770632"/>
            <a:ext cx="3255264" cy="640080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5577840" y="3291840"/>
            <a:ext cx="3291840" cy="1463040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Text 30"/>
          <p:cNvSpPr/>
          <p:nvPr/>
        </p:nvSpPr>
        <p:spPr>
          <a:xfrm>
            <a:off x="5687568" y="3364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⚠️  Data Leakage évité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687568" y="3721608"/>
            <a:ext cx="30175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Colonnes sources d'énergie (gaz, électricité) exclues — elles créeraient une fuite d'information et biaisaient les prédictions.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48 colonnes  →  14 colonnes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ÉTAPE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Préparation des Features — Transformation &amp; Corrélation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Asymétrie log · matrice de corrélation · valeurs manquantes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2062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20624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35844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Histplot SiteEnergyUse — forte asymétrie à droite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169664" cy="190195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663440" y="914400"/>
            <a:ext cx="42062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914400"/>
            <a:ext cx="420624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472744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487375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502005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5212080" y="950976"/>
            <a:ext cx="35844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Histplot log(SiteEnergyUse) — distribution symétrique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81728" y="1170432"/>
            <a:ext cx="4169664" cy="190195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206240" y="1572768"/>
            <a:ext cx="457200" cy="9144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2" name="Text 18"/>
          <p:cNvSpPr/>
          <p:nvPr/>
        </p:nvSpPr>
        <p:spPr>
          <a:xfrm>
            <a:off x="4142232" y="169164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np.log1p()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274320" y="2962656"/>
            <a:ext cx="8595360" cy="80467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274320" y="2962656"/>
            <a:ext cx="54864" cy="8046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3017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Transformation :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2697480" y="3017520"/>
            <a:ext cx="3840480" cy="256032"/>
          </a:xfrm>
          <a:prstGeom prst="rect">
            <a:avLst/>
          </a:prstGeom>
          <a:solidFill>
            <a:srgbClr val="0D1B2A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697480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SiteEnergyUse_log = np.log1p(SiteEnergyUse)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457200" y="3319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Forte asymétrie à droite + approximation à 0 → transformation log pour normaliser la distribution et améliorer les modèles.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274320" y="3877056"/>
            <a:ext cx="4206240" cy="144475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274320" y="3877056"/>
            <a:ext cx="420624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31" name="Shape 27"/>
          <p:cNvSpPr/>
          <p:nvPr/>
        </p:nvSpPr>
        <p:spPr>
          <a:xfrm>
            <a:off x="338328" y="3931920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32" name="Shape 28"/>
          <p:cNvSpPr/>
          <p:nvPr/>
        </p:nvSpPr>
        <p:spPr>
          <a:xfrm>
            <a:off x="484632" y="3931920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33" name="Shape 29"/>
          <p:cNvSpPr/>
          <p:nvPr/>
        </p:nvSpPr>
        <p:spPr>
          <a:xfrm>
            <a:off x="630936" y="3931920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34" name="Text 30"/>
          <p:cNvSpPr/>
          <p:nvPr/>
        </p:nvSpPr>
        <p:spPr>
          <a:xfrm>
            <a:off x="822960" y="3913632"/>
            <a:ext cx="35844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Matrice de corrélation — colonnes redondantes identifiées</a:t>
            </a:r>
            <a:endParaRPr lang="en-US" sz="800" dirty="0"/>
          </a:p>
        </p:txBody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2608" y="4133088"/>
            <a:ext cx="4169664" cy="1152144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4663440" y="3877056"/>
            <a:ext cx="4206240" cy="144475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663440" y="3877056"/>
            <a:ext cx="420624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38" name="Shape 33"/>
          <p:cNvSpPr/>
          <p:nvPr/>
        </p:nvSpPr>
        <p:spPr>
          <a:xfrm>
            <a:off x="4727448" y="3931920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39" name="Shape 34"/>
          <p:cNvSpPr/>
          <p:nvPr/>
        </p:nvSpPr>
        <p:spPr>
          <a:xfrm>
            <a:off x="4873752" y="3931920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40" name="Shape 35"/>
          <p:cNvSpPr/>
          <p:nvPr/>
        </p:nvSpPr>
        <p:spPr>
          <a:xfrm>
            <a:off x="5020056" y="3931920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41" name="Text 36"/>
          <p:cNvSpPr/>
          <p:nvPr/>
        </p:nvSpPr>
        <p:spPr>
          <a:xfrm>
            <a:off x="5212080" y="3913632"/>
            <a:ext cx="358444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df.isna().sum() — aucune valeur manquante détectée</a:t>
            </a:r>
            <a:endParaRPr lang="en-US" sz="8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81728" y="4133088"/>
            <a:ext cx="4169664" cy="11521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ÉTAPE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Préparation — Encoding &amp; Assemblage du Dataset Final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OneHotEncoder · fusion colonnes · imports sklearn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93776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93776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4315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Imports sklearn — modèles, métriques, preprocessing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901184" cy="213055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394960" y="914400"/>
            <a:ext cx="347472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94960" y="914400"/>
            <a:ext cx="347472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5896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560527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575157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950976"/>
            <a:ext cx="2852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OneHotEncoder — colonnes catégorielles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13248" y="1170432"/>
            <a:ext cx="3438144" cy="213055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74320" y="3182112"/>
            <a:ext cx="233172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3182112"/>
            <a:ext cx="233172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23" name="Shape 19"/>
          <p:cNvSpPr/>
          <p:nvPr/>
        </p:nvSpPr>
        <p:spPr>
          <a:xfrm>
            <a:off x="338328" y="3236976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24" name="Shape 20"/>
          <p:cNvSpPr/>
          <p:nvPr/>
        </p:nvSpPr>
        <p:spPr>
          <a:xfrm>
            <a:off x="484632" y="3236976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25" name="Shape 21"/>
          <p:cNvSpPr/>
          <p:nvPr/>
        </p:nvSpPr>
        <p:spPr>
          <a:xfrm>
            <a:off x="630936" y="3236976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26" name="Text 22"/>
          <p:cNvSpPr/>
          <p:nvPr/>
        </p:nvSpPr>
        <p:spPr>
          <a:xfrm>
            <a:off x="822960" y="3218688"/>
            <a:ext cx="17099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pd.concat — fusion numérique + encodé</a:t>
            </a:r>
            <a:endParaRPr lang="en-US" sz="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2608" y="3438144"/>
            <a:ext cx="2295144" cy="484632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2788920" y="3182112"/>
            <a:ext cx="6080760" cy="181051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2788920" y="3182112"/>
            <a:ext cx="608076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30" name="Shape 25"/>
          <p:cNvSpPr/>
          <p:nvPr/>
        </p:nvSpPr>
        <p:spPr>
          <a:xfrm>
            <a:off x="2852928" y="3236976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31" name="Shape 26"/>
          <p:cNvSpPr/>
          <p:nvPr/>
        </p:nvSpPr>
        <p:spPr>
          <a:xfrm>
            <a:off x="2999232" y="3236976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32" name="Shape 27"/>
          <p:cNvSpPr/>
          <p:nvPr/>
        </p:nvSpPr>
        <p:spPr>
          <a:xfrm>
            <a:off x="3145536" y="3236976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33" name="Text 28"/>
          <p:cNvSpPr/>
          <p:nvPr/>
        </p:nvSpPr>
        <p:spPr>
          <a:xfrm>
            <a:off x="3337560" y="3218688"/>
            <a:ext cx="5458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 final — quantitatives + df_ohe concaténés</a:t>
            </a:r>
            <a:endParaRPr lang="en-US" sz="8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807208" y="3438144"/>
            <a:ext cx="6044184" cy="15179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ÉTAPE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Modélisation — SiteEnergyUse_log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train_test_split · StandardScaler · entraînement des modèles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6052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16052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35387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 + StandardScaler + SVR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123944" cy="213055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617720" y="914400"/>
            <a:ext cx="4251960" cy="24231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914400"/>
            <a:ext cx="425196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46817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48280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49743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5166360" y="950976"/>
            <a:ext cx="36301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LinearRegression + DummyRegressor (mean/median)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6008" y="1170432"/>
            <a:ext cx="4215384" cy="213055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74320" y="3182112"/>
            <a:ext cx="4160520" cy="181051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3182112"/>
            <a:ext cx="416052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23" name="Shape 19"/>
          <p:cNvSpPr/>
          <p:nvPr/>
        </p:nvSpPr>
        <p:spPr>
          <a:xfrm>
            <a:off x="338328" y="3236976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24" name="Shape 20"/>
          <p:cNvSpPr/>
          <p:nvPr/>
        </p:nvSpPr>
        <p:spPr>
          <a:xfrm>
            <a:off x="484632" y="3236976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25" name="Shape 21"/>
          <p:cNvSpPr/>
          <p:nvPr/>
        </p:nvSpPr>
        <p:spPr>
          <a:xfrm>
            <a:off x="630936" y="3236976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26" name="Text 22"/>
          <p:cNvSpPr/>
          <p:nvPr/>
        </p:nvSpPr>
        <p:spPr>
          <a:xfrm>
            <a:off x="822960" y="3218688"/>
            <a:ext cx="353872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RandomForestRegressor — n_estimators=200</a:t>
            </a:r>
            <a:endParaRPr lang="en-US" sz="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2608" y="3438144"/>
            <a:ext cx="4123944" cy="151790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4617720" y="3182112"/>
            <a:ext cx="425196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617720" y="3182112"/>
            <a:ext cx="425196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30" name="Shape 25"/>
          <p:cNvSpPr/>
          <p:nvPr/>
        </p:nvSpPr>
        <p:spPr>
          <a:xfrm>
            <a:off x="4681728" y="3236976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31" name="Shape 26"/>
          <p:cNvSpPr/>
          <p:nvPr/>
        </p:nvSpPr>
        <p:spPr>
          <a:xfrm>
            <a:off x="4828032" y="3236976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32" name="Shape 27"/>
          <p:cNvSpPr/>
          <p:nvPr/>
        </p:nvSpPr>
        <p:spPr>
          <a:xfrm>
            <a:off x="4974336" y="3236976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33" name="Text 28"/>
          <p:cNvSpPr/>
          <p:nvPr/>
        </p:nvSpPr>
        <p:spPr>
          <a:xfrm>
            <a:off x="5166360" y="3218688"/>
            <a:ext cx="36301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DummyRegressor(strategy='median')</a:t>
            </a:r>
            <a:endParaRPr lang="en-US" sz="8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36008" y="3438144"/>
            <a:ext cx="4215384" cy="484632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4617720" y="3794760"/>
            <a:ext cx="4251960" cy="121615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617720" y="3794760"/>
            <a:ext cx="425196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37" name="Shape 31"/>
          <p:cNvSpPr/>
          <p:nvPr/>
        </p:nvSpPr>
        <p:spPr>
          <a:xfrm>
            <a:off x="4681728" y="384962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38" name="Shape 32"/>
          <p:cNvSpPr/>
          <p:nvPr/>
        </p:nvSpPr>
        <p:spPr>
          <a:xfrm>
            <a:off x="4828032" y="384962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39" name="Shape 33"/>
          <p:cNvSpPr/>
          <p:nvPr/>
        </p:nvSpPr>
        <p:spPr>
          <a:xfrm>
            <a:off x="4974336" y="384962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40" name="Text 34"/>
          <p:cNvSpPr/>
          <p:nvPr/>
        </p:nvSpPr>
        <p:spPr>
          <a:xfrm>
            <a:off x="5166360" y="3831336"/>
            <a:ext cx="36301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Prédictions RandomForest sur train/test</a:t>
            </a:r>
            <a:endParaRPr lang="en-US" sz="8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36008" y="4050792"/>
            <a:ext cx="4215384" cy="9235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ÉTAPE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Résultats — Comparaison des Modèles (SiteEnergyUse_log)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Métriques R², MAE, RMSE — RandomForest sélectionné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5029200" cy="245059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50292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44074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comparatif R², MAE, RMSE — tous modèles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992624" cy="215798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532120" y="914400"/>
            <a:ext cx="3337560" cy="245059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32120" y="914400"/>
            <a:ext cx="333756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55961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57424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58887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6080760" y="950976"/>
            <a:ext cx="27157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 — dictionnaire résultats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50408" y="1170432"/>
            <a:ext cx="3300984" cy="215798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74320" y="3255264"/>
            <a:ext cx="1627632" cy="148132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3255264"/>
            <a:ext cx="1627632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3" name="Text 19"/>
          <p:cNvSpPr/>
          <p:nvPr/>
        </p:nvSpPr>
        <p:spPr>
          <a:xfrm>
            <a:off x="329184" y="331927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🥇 RandomForest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92608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0.6089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292608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R²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832104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0.1107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32104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MAE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371600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0.9649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1371600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RMSE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1993392" y="3255264"/>
            <a:ext cx="1627632" cy="148132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1993392" y="3255264"/>
            <a:ext cx="16276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8"/>
          <p:cNvSpPr/>
          <p:nvPr/>
        </p:nvSpPr>
        <p:spPr>
          <a:xfrm>
            <a:off x="2048256" y="331927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🥈 SVR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2011680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0.2744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2011680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R²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2551176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~0.35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2551176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MAE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3090672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~1.40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3090672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RMSE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3712464" y="3255264"/>
            <a:ext cx="1627632" cy="148132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3712464" y="3255264"/>
            <a:ext cx="162763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7"/>
          <p:cNvSpPr/>
          <p:nvPr/>
        </p:nvSpPr>
        <p:spPr>
          <a:xfrm>
            <a:off x="3767328" y="331927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🥉 LinearReg.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3730752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-0.036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3730752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R²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4270248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~0.62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4270248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MAE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4809744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~1.70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4809744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RMSE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5431536" y="3255264"/>
            <a:ext cx="1627632" cy="148132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5431536" y="3255264"/>
            <a:ext cx="1627632" cy="54864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50" name="Text 46"/>
          <p:cNvSpPr/>
          <p:nvPr/>
        </p:nvSpPr>
        <p:spPr>
          <a:xfrm>
            <a:off x="5486400" y="331927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4️⃣ Dummy_median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5449824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-0.0012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5449824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R²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5989320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1.0620</a:t>
            </a:r>
            <a:endParaRPr lang="en-US" sz="1100" dirty="0"/>
          </a:p>
        </p:txBody>
      </p:sp>
      <p:sp>
        <p:nvSpPr>
          <p:cNvPr id="54" name="Text 50"/>
          <p:cNvSpPr/>
          <p:nvPr/>
        </p:nvSpPr>
        <p:spPr>
          <a:xfrm>
            <a:off x="5989320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MAE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6528816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49E"/>
                </a:solidFill>
              </a:rPr>
              <a:t>1.5437</a:t>
            </a:r>
            <a:endParaRPr lang="en-US" sz="1100" dirty="0"/>
          </a:p>
        </p:txBody>
      </p:sp>
      <p:sp>
        <p:nvSpPr>
          <p:cNvPr id="56" name="Text 52"/>
          <p:cNvSpPr/>
          <p:nvPr/>
        </p:nvSpPr>
        <p:spPr>
          <a:xfrm>
            <a:off x="6528816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RMSE</a:t>
            </a:r>
            <a:endParaRPr lang="en-US" sz="750" dirty="0"/>
          </a:p>
        </p:txBody>
      </p:sp>
      <p:sp>
        <p:nvSpPr>
          <p:cNvPr id="57" name="Shape 53"/>
          <p:cNvSpPr/>
          <p:nvPr/>
        </p:nvSpPr>
        <p:spPr>
          <a:xfrm>
            <a:off x="7150608" y="3255264"/>
            <a:ext cx="1627632" cy="148132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8" name="Shape 54"/>
          <p:cNvSpPr/>
          <p:nvPr/>
        </p:nvSpPr>
        <p:spPr>
          <a:xfrm>
            <a:off x="7150608" y="3255264"/>
            <a:ext cx="1627632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9" name="Text 55"/>
          <p:cNvSpPr/>
          <p:nvPr/>
        </p:nvSpPr>
        <p:spPr>
          <a:xfrm>
            <a:off x="7205472" y="3319272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5️⃣ Dummy_mean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7168896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-0.0019</a:t>
            </a:r>
            <a:endParaRPr lang="en-US" sz="1100" dirty="0"/>
          </a:p>
        </p:txBody>
      </p:sp>
      <p:sp>
        <p:nvSpPr>
          <p:cNvPr id="61" name="Text 57"/>
          <p:cNvSpPr/>
          <p:nvPr/>
        </p:nvSpPr>
        <p:spPr>
          <a:xfrm>
            <a:off x="7168896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R²</a:t>
            </a:r>
            <a:endParaRPr lang="en-US" sz="750" dirty="0"/>
          </a:p>
        </p:txBody>
      </p:sp>
      <p:sp>
        <p:nvSpPr>
          <p:cNvPr id="62" name="Text 58"/>
          <p:cNvSpPr/>
          <p:nvPr/>
        </p:nvSpPr>
        <p:spPr>
          <a:xfrm>
            <a:off x="7708392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1.0666</a:t>
            </a:r>
            <a:endParaRPr lang="en-US" sz="1100" dirty="0"/>
          </a:p>
        </p:txBody>
      </p:sp>
      <p:sp>
        <p:nvSpPr>
          <p:cNvPr id="63" name="Text 59"/>
          <p:cNvSpPr/>
          <p:nvPr/>
        </p:nvSpPr>
        <p:spPr>
          <a:xfrm>
            <a:off x="7708392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MAE</a:t>
            </a:r>
            <a:endParaRPr lang="en-US" sz="750" dirty="0"/>
          </a:p>
        </p:txBody>
      </p:sp>
      <p:sp>
        <p:nvSpPr>
          <p:cNvPr id="64" name="Text 60"/>
          <p:cNvSpPr/>
          <p:nvPr/>
        </p:nvSpPr>
        <p:spPr>
          <a:xfrm>
            <a:off x="8247888" y="3657600"/>
            <a:ext cx="5120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1.5443</a:t>
            </a:r>
            <a:endParaRPr lang="en-US" sz="1100" dirty="0"/>
          </a:p>
        </p:txBody>
      </p:sp>
      <p:sp>
        <p:nvSpPr>
          <p:cNvPr id="65" name="Text 61"/>
          <p:cNvSpPr/>
          <p:nvPr/>
        </p:nvSpPr>
        <p:spPr>
          <a:xfrm>
            <a:off x="8247888" y="400507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RMSE</a:t>
            </a:r>
            <a:endParaRPr lang="en-US" sz="750" dirty="0"/>
          </a:p>
        </p:txBody>
      </p:sp>
      <p:sp>
        <p:nvSpPr>
          <p:cNvPr id="66" name="Shape 62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solidFill>
            <a:srgbClr val="1A0A2E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457200" y="4873752"/>
            <a:ext cx="8229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🔧  Optimisation : GridSearchCV appliqué sur RandomForest pour tuning des hyperparamètres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ÉTAPE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GridSearchCV &amp; Feature Importance — SiteEnergyUse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Optimisation hyperparamètres · Features les plus impactantes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93776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93776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4315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GridSearchCV RandomForest — best_params_, best_score_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901184" cy="31821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40680" y="914400"/>
            <a:ext cx="3429000" cy="1874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40680" y="914400"/>
            <a:ext cx="34290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550468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565099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579729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950976"/>
            <a:ext cx="28072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Importance — SiteEnergyUse (top features)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58968" y="1170432"/>
            <a:ext cx="3392424" cy="158191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440680" y="2633472"/>
            <a:ext cx="3429000" cy="184708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440680" y="2633472"/>
            <a:ext cx="34290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23" name="Shape 19"/>
          <p:cNvSpPr/>
          <p:nvPr/>
        </p:nvSpPr>
        <p:spPr>
          <a:xfrm>
            <a:off x="5504688" y="2688336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24" name="Shape 20"/>
          <p:cNvSpPr/>
          <p:nvPr/>
        </p:nvSpPr>
        <p:spPr>
          <a:xfrm>
            <a:off x="5650992" y="2688336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25" name="Shape 21"/>
          <p:cNvSpPr/>
          <p:nvPr/>
        </p:nvSpPr>
        <p:spPr>
          <a:xfrm>
            <a:off x="5797296" y="2688336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26" name="Text 22"/>
          <p:cNvSpPr/>
          <p:nvPr/>
        </p:nvSpPr>
        <p:spPr>
          <a:xfrm>
            <a:off x="5989320" y="2670048"/>
            <a:ext cx="28072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Feature Importances — barplot horizontal</a:t>
            </a:r>
            <a:endParaRPr lang="en-US" sz="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58968" y="2889504"/>
            <a:ext cx="3392424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ÉTAPE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Permutation Importance — SiteEnergyUse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Validation de la robustesse des features sélectionnées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937760" cy="2514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93776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4315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Permutation Importance — SiteEnergyUse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901184" cy="222199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40680" y="914400"/>
            <a:ext cx="3429000" cy="2514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40680" y="914400"/>
            <a:ext cx="34290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550468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565099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579729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950976"/>
            <a:ext cx="28072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Permutation Importance — SiteEnergyUse (barplot)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58968" y="1170432"/>
            <a:ext cx="3392424" cy="222199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74320" y="3310128"/>
            <a:ext cx="8595360" cy="148132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3310128"/>
            <a:ext cx="54864" cy="148132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🔑  Features clés identifiées — SiteEnergyUse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02920" y="3813048"/>
            <a:ext cx="1572768" cy="411480"/>
          </a:xfrm>
          <a:prstGeom prst="rect">
            <a:avLst/>
          </a:prstGeom>
          <a:solidFill>
            <a:srgbClr val="022C22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2920" y="381304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Energy_per_m²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2194560" y="3813048"/>
            <a:ext cx="1572768" cy="411480"/>
          </a:xfrm>
          <a:prstGeom prst="rect">
            <a:avLst/>
          </a:prstGeom>
          <a:solidFill>
            <a:srgbClr val="022C22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194560" y="381304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PropertyGFATotal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3886200" y="3813048"/>
            <a:ext cx="1572768" cy="411480"/>
          </a:xfrm>
          <a:prstGeom prst="rect">
            <a:avLst/>
          </a:prstGeom>
          <a:solidFill>
            <a:srgbClr val="022C22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886200" y="381304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PropertyGFABuilding(s)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577840" y="3813048"/>
            <a:ext cx="1572768" cy="411480"/>
          </a:xfrm>
          <a:prstGeom prst="rect">
            <a:avLst/>
          </a:prstGeom>
          <a:solidFill>
            <a:srgbClr val="022C22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577840" y="381304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LargestPropertyUseTypeGFA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7269480" y="3813048"/>
            <a:ext cx="1572768" cy="411480"/>
          </a:xfrm>
          <a:prstGeom prst="rect">
            <a:avLst/>
          </a:prstGeom>
          <a:solidFill>
            <a:srgbClr val="022C22"/>
          </a:solidFill>
          <a:ln w="6350">
            <a:solidFill>
              <a:srgbClr val="00C89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269480" y="3813048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age_bat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Ces features sont communes aux deux analyses (SiteEnergyUse &amp; TotalGHGEmissions) — signal fort pour la modélisation.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ÉTAPE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TotalGHGEmissions — Distribution &amp; Modélisation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Deuxième variable cible · même pipeline · transformation log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14800" cy="221284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1148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34930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Histplot TotalGHGEmissions — asymétrie initiale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078224" cy="19202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72000" y="914400"/>
            <a:ext cx="4297680" cy="221284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914400"/>
            <a:ext cx="429768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463600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478231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492861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950976"/>
            <a:ext cx="3675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Histplot log(TotalGHGEmissions) — distribution corrigée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0288" y="1170432"/>
            <a:ext cx="4261104" cy="192024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206240" y="1572768"/>
            <a:ext cx="457200" cy="9144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2" name="Text 18"/>
          <p:cNvSpPr/>
          <p:nvPr/>
        </p:nvSpPr>
        <p:spPr>
          <a:xfrm>
            <a:off x="4142232" y="169164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np.log1p()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274320" y="3017520"/>
            <a:ext cx="41148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274320" y="3017520"/>
            <a:ext cx="41148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25" name="Shape 21"/>
          <p:cNvSpPr/>
          <p:nvPr/>
        </p:nvSpPr>
        <p:spPr>
          <a:xfrm>
            <a:off x="338328" y="307238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26" name="Shape 22"/>
          <p:cNvSpPr/>
          <p:nvPr/>
        </p:nvSpPr>
        <p:spPr>
          <a:xfrm>
            <a:off x="484632" y="307238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27" name="Shape 23"/>
          <p:cNvSpPr/>
          <p:nvPr/>
        </p:nvSpPr>
        <p:spPr>
          <a:xfrm>
            <a:off x="630936" y="307238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28" name="Text 24"/>
          <p:cNvSpPr/>
          <p:nvPr/>
        </p:nvSpPr>
        <p:spPr>
          <a:xfrm>
            <a:off x="822960" y="3054096"/>
            <a:ext cx="34930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train_test_split + StandardScaler — TotalGHGEmissions</a:t>
            </a:r>
            <a:endParaRPr lang="en-US" sz="8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2608" y="3273552"/>
            <a:ext cx="4078224" cy="1261872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572000" y="3017520"/>
            <a:ext cx="429768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572000" y="3017520"/>
            <a:ext cx="429768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32" name="Shape 27"/>
          <p:cNvSpPr/>
          <p:nvPr/>
        </p:nvSpPr>
        <p:spPr>
          <a:xfrm>
            <a:off x="4636008" y="307238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33" name="Shape 28"/>
          <p:cNvSpPr/>
          <p:nvPr/>
        </p:nvSpPr>
        <p:spPr>
          <a:xfrm>
            <a:off x="4782312" y="307238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34" name="Shape 29"/>
          <p:cNvSpPr/>
          <p:nvPr/>
        </p:nvSpPr>
        <p:spPr>
          <a:xfrm>
            <a:off x="4928616" y="307238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35" name="Text 30"/>
          <p:cNvSpPr/>
          <p:nvPr/>
        </p:nvSpPr>
        <p:spPr>
          <a:xfrm>
            <a:off x="5120640" y="3054096"/>
            <a:ext cx="367588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SVR + LinearRegression — TotalGHGEmissions</a:t>
            </a:r>
            <a:endParaRPr lang="en-US" sz="8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90288" y="3273552"/>
            <a:ext cx="4261104" cy="1261872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Même pipeline que SiteEnergyUse : log → scaling → entraînement → comparaison → GridSearchCV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ÉTAPE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Résultats — Comparaison des Modèles (TotalGHGEmissions)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RandomForest confirme sa domination sur la 2ème variable cible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9377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93776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4315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DummyRegressor + RandomForest — TotalGHGEmissions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901184" cy="190195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40680" y="914400"/>
            <a:ext cx="342900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40680" y="914400"/>
            <a:ext cx="34290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550468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565099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579729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950976"/>
            <a:ext cx="28072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Tableau R², MAE, RMSE — TotalGHGEmissions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58968" y="1170432"/>
            <a:ext cx="3392424" cy="190195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74320" y="2980944"/>
            <a:ext cx="1627632" cy="138988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2980944"/>
            <a:ext cx="1627632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3" name="Text 19"/>
          <p:cNvSpPr/>
          <p:nvPr/>
        </p:nvSpPr>
        <p:spPr>
          <a:xfrm>
            <a:off x="329184" y="304495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🥇 RandomForest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292608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0.7713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292608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R²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832104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0.5155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832104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MAE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1371600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0.6699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371600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RMSE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1993392" y="2980944"/>
            <a:ext cx="1627632" cy="138988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1993392" y="2980944"/>
            <a:ext cx="162763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8"/>
          <p:cNvSpPr/>
          <p:nvPr/>
        </p:nvSpPr>
        <p:spPr>
          <a:xfrm>
            <a:off x="2048256" y="304495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🥈 SVR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2011680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0.2824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2011680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R²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2551176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0.9274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2551176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MAE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3090672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1.1867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3090672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RMSE</a:t>
            </a:r>
            <a:endParaRPr lang="en-US" sz="750" dirty="0"/>
          </a:p>
        </p:txBody>
      </p:sp>
      <p:sp>
        <p:nvSpPr>
          <p:cNvPr id="39" name="Shape 35"/>
          <p:cNvSpPr/>
          <p:nvPr/>
        </p:nvSpPr>
        <p:spPr>
          <a:xfrm>
            <a:off x="3712464" y="2980944"/>
            <a:ext cx="1627632" cy="138988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3712464" y="2980944"/>
            <a:ext cx="1627632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7"/>
          <p:cNvSpPr/>
          <p:nvPr/>
        </p:nvSpPr>
        <p:spPr>
          <a:xfrm>
            <a:off x="3767328" y="304495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🥉 LinearReg.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3730752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-1.001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3730752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R²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4270248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1.5582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4270248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MAE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4809744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1.9818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4809744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RMSE</a:t>
            </a:r>
            <a:endParaRPr lang="en-US" sz="750" dirty="0"/>
          </a:p>
        </p:txBody>
      </p:sp>
      <p:sp>
        <p:nvSpPr>
          <p:cNvPr id="48" name="Shape 44"/>
          <p:cNvSpPr/>
          <p:nvPr/>
        </p:nvSpPr>
        <p:spPr>
          <a:xfrm>
            <a:off x="5431536" y="2980944"/>
            <a:ext cx="1627632" cy="138988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5431536" y="2980944"/>
            <a:ext cx="1627632" cy="54864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50" name="Text 46"/>
          <p:cNvSpPr/>
          <p:nvPr/>
        </p:nvSpPr>
        <p:spPr>
          <a:xfrm>
            <a:off x="5486400" y="304495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4️⃣ Dummy_median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5449824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949E"/>
                </a:solidFill>
              </a:rPr>
              <a:t>-0.0000</a:t>
            </a:r>
            <a:endParaRPr lang="en-US" sz="1050" dirty="0"/>
          </a:p>
        </p:txBody>
      </p:sp>
      <p:sp>
        <p:nvSpPr>
          <p:cNvPr id="52" name="Text 48"/>
          <p:cNvSpPr/>
          <p:nvPr/>
        </p:nvSpPr>
        <p:spPr>
          <a:xfrm>
            <a:off x="5449824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R²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5989320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949E"/>
                </a:solidFill>
              </a:rPr>
              <a:t>1.0926</a:t>
            </a:r>
            <a:endParaRPr lang="en-US" sz="1050" dirty="0"/>
          </a:p>
        </p:txBody>
      </p:sp>
      <p:sp>
        <p:nvSpPr>
          <p:cNvPr id="54" name="Text 50"/>
          <p:cNvSpPr/>
          <p:nvPr/>
        </p:nvSpPr>
        <p:spPr>
          <a:xfrm>
            <a:off x="5989320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MAE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6528816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949E"/>
                </a:solidFill>
              </a:rPr>
              <a:t>1.4009</a:t>
            </a:r>
            <a:endParaRPr lang="en-US" sz="1050" dirty="0"/>
          </a:p>
        </p:txBody>
      </p:sp>
      <p:sp>
        <p:nvSpPr>
          <p:cNvPr id="56" name="Text 52"/>
          <p:cNvSpPr/>
          <p:nvPr/>
        </p:nvSpPr>
        <p:spPr>
          <a:xfrm>
            <a:off x="6528816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RMSE</a:t>
            </a:r>
            <a:endParaRPr lang="en-US" sz="750" dirty="0"/>
          </a:p>
        </p:txBody>
      </p:sp>
      <p:sp>
        <p:nvSpPr>
          <p:cNvPr id="57" name="Shape 53"/>
          <p:cNvSpPr/>
          <p:nvPr/>
        </p:nvSpPr>
        <p:spPr>
          <a:xfrm>
            <a:off x="7150608" y="2980944"/>
            <a:ext cx="1627632" cy="1389888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8" name="Shape 54"/>
          <p:cNvSpPr/>
          <p:nvPr/>
        </p:nvSpPr>
        <p:spPr>
          <a:xfrm>
            <a:off x="7150608" y="2980944"/>
            <a:ext cx="1627632" cy="54864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9" name="Text 55"/>
          <p:cNvSpPr/>
          <p:nvPr/>
        </p:nvSpPr>
        <p:spPr>
          <a:xfrm>
            <a:off x="7205472" y="304495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5️⃣ Dummy_mean</a:t>
            </a:r>
            <a:endParaRPr lang="en-US" sz="950" dirty="0"/>
          </a:p>
        </p:txBody>
      </p:sp>
      <p:sp>
        <p:nvSpPr>
          <p:cNvPr id="60" name="Text 56"/>
          <p:cNvSpPr/>
          <p:nvPr/>
        </p:nvSpPr>
        <p:spPr>
          <a:xfrm>
            <a:off x="7168896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-0.0023</a:t>
            </a:r>
            <a:endParaRPr lang="en-US" sz="1050" dirty="0"/>
          </a:p>
        </p:txBody>
      </p:sp>
      <p:sp>
        <p:nvSpPr>
          <p:cNvPr id="61" name="Text 57"/>
          <p:cNvSpPr/>
          <p:nvPr/>
        </p:nvSpPr>
        <p:spPr>
          <a:xfrm>
            <a:off x="7168896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R²</a:t>
            </a:r>
            <a:endParaRPr lang="en-US" sz="750" dirty="0"/>
          </a:p>
        </p:txBody>
      </p:sp>
      <p:sp>
        <p:nvSpPr>
          <p:cNvPr id="62" name="Text 58"/>
          <p:cNvSpPr/>
          <p:nvPr/>
        </p:nvSpPr>
        <p:spPr>
          <a:xfrm>
            <a:off x="7708392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1.0955</a:t>
            </a:r>
            <a:endParaRPr lang="en-US" sz="1050" dirty="0"/>
          </a:p>
        </p:txBody>
      </p:sp>
      <p:sp>
        <p:nvSpPr>
          <p:cNvPr id="63" name="Text 59"/>
          <p:cNvSpPr/>
          <p:nvPr/>
        </p:nvSpPr>
        <p:spPr>
          <a:xfrm>
            <a:off x="7708392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MAE</a:t>
            </a:r>
            <a:endParaRPr lang="en-US" sz="750" dirty="0"/>
          </a:p>
        </p:txBody>
      </p:sp>
      <p:sp>
        <p:nvSpPr>
          <p:cNvPr id="64" name="Text 60"/>
          <p:cNvSpPr/>
          <p:nvPr/>
        </p:nvSpPr>
        <p:spPr>
          <a:xfrm>
            <a:off x="8247888" y="3374136"/>
            <a:ext cx="51206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1.4025</a:t>
            </a:r>
            <a:endParaRPr lang="en-US" sz="1050" dirty="0"/>
          </a:p>
        </p:txBody>
      </p:sp>
      <p:sp>
        <p:nvSpPr>
          <p:cNvPr id="65" name="Text 61"/>
          <p:cNvSpPr/>
          <p:nvPr/>
        </p:nvSpPr>
        <p:spPr>
          <a:xfrm>
            <a:off x="8247888" y="3694176"/>
            <a:ext cx="5120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</a:rPr>
              <a:t>RMSE</a:t>
            </a:r>
            <a:endParaRPr lang="en-US" sz="750" dirty="0"/>
          </a:p>
        </p:txBody>
      </p:sp>
      <p:sp>
        <p:nvSpPr>
          <p:cNvPr id="66" name="Shape 62"/>
          <p:cNvSpPr/>
          <p:nvPr/>
        </p:nvSpPr>
        <p:spPr>
          <a:xfrm>
            <a:off x="274320" y="4480560"/>
            <a:ext cx="493776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7" name="Shape 63"/>
          <p:cNvSpPr/>
          <p:nvPr/>
        </p:nvSpPr>
        <p:spPr>
          <a:xfrm>
            <a:off x="274320" y="4480560"/>
            <a:ext cx="493776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68" name="Shape 64"/>
          <p:cNvSpPr/>
          <p:nvPr/>
        </p:nvSpPr>
        <p:spPr>
          <a:xfrm>
            <a:off x="338328" y="453542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69" name="Shape 65"/>
          <p:cNvSpPr/>
          <p:nvPr/>
        </p:nvSpPr>
        <p:spPr>
          <a:xfrm>
            <a:off x="484632" y="453542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70" name="Shape 66"/>
          <p:cNvSpPr/>
          <p:nvPr/>
        </p:nvSpPr>
        <p:spPr>
          <a:xfrm>
            <a:off x="630936" y="453542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71" name="Text 67"/>
          <p:cNvSpPr/>
          <p:nvPr/>
        </p:nvSpPr>
        <p:spPr>
          <a:xfrm>
            <a:off x="822960" y="4517136"/>
            <a:ext cx="4315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GridSearchCV RandomForest — TotalGHGEmissions</a:t>
            </a:r>
            <a:endParaRPr lang="en-US" sz="800" dirty="0"/>
          </a:p>
        </p:txBody>
      </p:sp>
      <p:pic>
        <p:nvPicPr>
          <p:cNvPr id="7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2608" y="4736592"/>
            <a:ext cx="4901184" cy="640080"/>
          </a:xfrm>
          <a:prstGeom prst="rect">
            <a:avLst/>
          </a:prstGeom>
        </p:spPr>
      </p:pic>
      <p:sp>
        <p:nvSpPr>
          <p:cNvPr id="73" name="Shape 68"/>
          <p:cNvSpPr/>
          <p:nvPr/>
        </p:nvSpPr>
        <p:spPr>
          <a:xfrm>
            <a:off x="5440680" y="4480560"/>
            <a:ext cx="342900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74" name="Shape 69"/>
          <p:cNvSpPr/>
          <p:nvPr/>
        </p:nvSpPr>
        <p:spPr>
          <a:xfrm>
            <a:off x="5440680" y="4480560"/>
            <a:ext cx="34290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75" name="Shape 70"/>
          <p:cNvSpPr/>
          <p:nvPr/>
        </p:nvSpPr>
        <p:spPr>
          <a:xfrm>
            <a:off x="5504688" y="453542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76" name="Shape 71"/>
          <p:cNvSpPr/>
          <p:nvPr/>
        </p:nvSpPr>
        <p:spPr>
          <a:xfrm>
            <a:off x="5650992" y="453542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77" name="Shape 72"/>
          <p:cNvSpPr/>
          <p:nvPr/>
        </p:nvSpPr>
        <p:spPr>
          <a:xfrm>
            <a:off x="5797296" y="453542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78" name="Text 73"/>
          <p:cNvSpPr/>
          <p:nvPr/>
        </p:nvSpPr>
        <p:spPr>
          <a:xfrm>
            <a:off x="5989320" y="4517136"/>
            <a:ext cx="28072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importance — TotalGHGEmissions</a:t>
            </a:r>
            <a:endParaRPr lang="en-US" sz="800" dirty="0"/>
          </a:p>
        </p:txBody>
      </p:sp>
      <p:pic>
        <p:nvPicPr>
          <p:cNvPr id="7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58968" y="4736592"/>
            <a:ext cx="339242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28016"/>
            <a:ext cx="1115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ÉTAPE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08760" y="128016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Feature &amp; Permutation Importance — TotalGHGEmissions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669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Identification des variables les plus déterminantes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937760" cy="24871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93776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950976"/>
            <a:ext cx="4315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Feature Importance — TotalGHGEmissions</a:t>
            </a:r>
            <a:endParaRPr lang="en-US" sz="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170432"/>
            <a:ext cx="4901184" cy="21945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40680" y="914400"/>
            <a:ext cx="3429000" cy="2487168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40680" y="914400"/>
            <a:ext cx="34290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16" name="Shape 13"/>
          <p:cNvSpPr/>
          <p:nvPr/>
        </p:nvSpPr>
        <p:spPr>
          <a:xfrm>
            <a:off x="5504688" y="96926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17" name="Shape 14"/>
          <p:cNvSpPr/>
          <p:nvPr/>
        </p:nvSpPr>
        <p:spPr>
          <a:xfrm>
            <a:off x="5650992" y="96926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18" name="Shape 15"/>
          <p:cNvSpPr/>
          <p:nvPr/>
        </p:nvSpPr>
        <p:spPr>
          <a:xfrm>
            <a:off x="5797296" y="96926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950976"/>
            <a:ext cx="28072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Feature Importances — TotalGHGEmissions (barplot)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58968" y="1170432"/>
            <a:ext cx="3392424" cy="219456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274320" y="3246120"/>
            <a:ext cx="493776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274320" y="3246120"/>
            <a:ext cx="493776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23" name="Shape 19"/>
          <p:cNvSpPr/>
          <p:nvPr/>
        </p:nvSpPr>
        <p:spPr>
          <a:xfrm>
            <a:off x="338328" y="330098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24" name="Shape 20"/>
          <p:cNvSpPr/>
          <p:nvPr/>
        </p:nvSpPr>
        <p:spPr>
          <a:xfrm>
            <a:off x="484632" y="330098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25" name="Shape 21"/>
          <p:cNvSpPr/>
          <p:nvPr/>
        </p:nvSpPr>
        <p:spPr>
          <a:xfrm>
            <a:off x="630936" y="330098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26" name="Text 22"/>
          <p:cNvSpPr/>
          <p:nvPr/>
        </p:nvSpPr>
        <p:spPr>
          <a:xfrm>
            <a:off x="822960" y="3282696"/>
            <a:ext cx="431596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Permutation Importance — TotalGHGEmissions</a:t>
            </a:r>
            <a:endParaRPr lang="en-US" sz="8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92608" y="3502152"/>
            <a:ext cx="4901184" cy="1490472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440680" y="3246120"/>
            <a:ext cx="342900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440680" y="3246120"/>
            <a:ext cx="3429000" cy="237744"/>
          </a:xfrm>
          <a:prstGeom prst="rect">
            <a:avLst/>
          </a:prstGeom>
          <a:solidFill>
            <a:srgbClr val="22272E"/>
          </a:solidFill>
          <a:ln/>
        </p:spPr>
      </p:sp>
      <p:sp>
        <p:nvSpPr>
          <p:cNvPr id="30" name="Shape 25"/>
          <p:cNvSpPr/>
          <p:nvPr/>
        </p:nvSpPr>
        <p:spPr>
          <a:xfrm>
            <a:off x="5504688" y="3300984"/>
            <a:ext cx="100584" cy="100584"/>
          </a:xfrm>
          <a:prstGeom prst="ellipse">
            <a:avLst/>
          </a:prstGeom>
          <a:solidFill>
            <a:srgbClr val="FC615D"/>
          </a:solidFill>
          <a:ln/>
        </p:spPr>
      </p:sp>
      <p:sp>
        <p:nvSpPr>
          <p:cNvPr id="31" name="Shape 26"/>
          <p:cNvSpPr/>
          <p:nvPr/>
        </p:nvSpPr>
        <p:spPr>
          <a:xfrm>
            <a:off x="5650992" y="3300984"/>
            <a:ext cx="100584" cy="100584"/>
          </a:xfrm>
          <a:prstGeom prst="ellipse">
            <a:avLst/>
          </a:prstGeom>
          <a:solidFill>
            <a:srgbClr val="FDBC40"/>
          </a:solidFill>
          <a:ln/>
        </p:spPr>
      </p:sp>
      <p:sp>
        <p:nvSpPr>
          <p:cNvPr id="32" name="Shape 27"/>
          <p:cNvSpPr/>
          <p:nvPr/>
        </p:nvSpPr>
        <p:spPr>
          <a:xfrm>
            <a:off x="5797296" y="3300984"/>
            <a:ext cx="100584" cy="100584"/>
          </a:xfrm>
          <a:prstGeom prst="ellipse">
            <a:avLst/>
          </a:prstGeom>
          <a:solidFill>
            <a:srgbClr val="34C84A"/>
          </a:solidFill>
          <a:ln/>
        </p:spPr>
      </p:sp>
      <p:sp>
        <p:nvSpPr>
          <p:cNvPr id="33" name="Text 28"/>
          <p:cNvSpPr/>
          <p:nvPr/>
        </p:nvSpPr>
        <p:spPr>
          <a:xfrm>
            <a:off x="5989320" y="3282696"/>
            <a:ext cx="2807208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Permutation Importance — TotalGHGEmissions (barplot)</a:t>
            </a:r>
            <a:endParaRPr lang="en-US" sz="8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58968" y="3502152"/>
            <a:ext cx="3392424" cy="1490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1371600"/>
          </a:xfrm>
          <a:prstGeom prst="rect">
            <a:avLst/>
          </a:prstGeom>
          <a:solidFill>
            <a:srgbClr val="022C22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229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896"/>
                </a:solidFill>
              </a:rPr>
              <a:t>🏆  Modèle retenu : RandomForest Regressor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2435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Optimisé via GridSearchCV · Permutation Importance pour identifier les features clés sur les 2 variables cibles.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96"/>
                </a:solidFill>
              </a:rPr>
              <a:t>0.6089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0" y="1554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96"/>
                </a:solidFill>
              </a:rPr>
              <a:t>0.1107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0" y="19202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MAE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896"/>
                </a:solidFill>
              </a:rPr>
              <a:t>0.9649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0" y="192024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RMSE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4206240" cy="1078992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40280"/>
            <a:ext cx="4206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3591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SiteEnergyUse (kBtu)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68833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Consommation totale d'énergie.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RandomForest → R²=0.61, MAE=0.11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240280"/>
            <a:ext cx="4206240" cy="1078992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4028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3591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TotalGHGEmissions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68833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Émissions de CO₂ totales.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Même pipeline — RandomForest retenu.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8595360" cy="804672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456432"/>
            <a:ext cx="54864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29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Objectif SMART atteint 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8221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</a:rPr>
              <a:t>Prédire la consommation d'énergie et les émissions de gaz à effet de serre des bâtiments non résidentiels de Seattle, en s'appuyant sur leurs données structurelles disponibles.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370832"/>
            <a:ext cx="8595360" cy="713232"/>
          </a:xfrm>
          <a:prstGeom prst="rect">
            <a:avLst/>
          </a:prstGeom>
          <a:solidFill>
            <a:srgbClr val="022C22"/>
          </a:solidFill>
          <a:ln w="10160">
            <a:solidFill>
              <a:srgbClr val="00C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256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🔑  Features communes aux 2 modèles : 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000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Energy_per_m²  ·  PropertyGFATotal  ·  PropertyGFABuilding(s)  ·  LargestPropertyUseTypeGFA  ·  age_bat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Pipeline Complet du Projet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Du chargement des données à la Feature Importance — résumé des 4 étapes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1353312" cy="31089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1353312" cy="640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261872"/>
            <a:ext cx="566928" cy="566928"/>
          </a:xfrm>
          <a:prstGeom prst="ellipse">
            <a:avLst/>
          </a:prstGeom>
          <a:solidFill>
            <a:srgbClr val="00C896">
              <a:alpha val="20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10896" y="1965960"/>
            <a:ext cx="12435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2523744"/>
            <a:ext cx="804672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" y="2651760"/>
            <a:ext cx="12435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Chargement · Bâtiments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Outliers · Variable cible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591056" y="2523744"/>
            <a:ext cx="164592" cy="7315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3" name="Text 11"/>
          <p:cNvSpPr/>
          <p:nvPr/>
        </p:nvSpPr>
        <p:spPr>
          <a:xfrm>
            <a:off x="1581912" y="2377440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737360" y="1078992"/>
            <a:ext cx="1353312" cy="31089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737360" y="1078992"/>
            <a:ext cx="1353312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2121408" y="1261872"/>
            <a:ext cx="566928" cy="566928"/>
          </a:xfrm>
          <a:prstGeom prst="ellipse">
            <a:avLst/>
          </a:prstGeom>
          <a:solidFill>
            <a:srgbClr val="F59E0B">
              <a:alpha val="2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21408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92224" y="1965960"/>
            <a:ext cx="12435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011680" y="2523744"/>
            <a:ext cx="804672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792224" y="2651760"/>
            <a:ext cx="12435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Âge bâtiment · Énergie/m²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Suppression leakage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72384" y="2523744"/>
            <a:ext cx="164592" cy="7315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2" name="Text 20"/>
          <p:cNvSpPr/>
          <p:nvPr/>
        </p:nvSpPr>
        <p:spPr>
          <a:xfrm>
            <a:off x="3063240" y="2377440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18688" y="1078992"/>
            <a:ext cx="1353312" cy="31089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18688" y="1078992"/>
            <a:ext cx="1353312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3602736" y="1261872"/>
            <a:ext cx="566928" cy="566928"/>
          </a:xfrm>
          <a:prstGeom prst="ellipse">
            <a:avLst/>
          </a:prstGeom>
          <a:solidFill>
            <a:srgbClr val="3B82F6">
              <a:alpha val="20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02736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73552" y="1965960"/>
            <a:ext cx="12435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Prépa.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493008" y="2523744"/>
            <a:ext cx="80467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3273552" y="2651760"/>
            <a:ext cx="12435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Log transform · Corrélation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Encoding · Fusion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53712" y="2523744"/>
            <a:ext cx="164592" cy="7315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4544568" y="2377440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00016" y="1078992"/>
            <a:ext cx="1353312" cy="31089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0016" y="1078992"/>
            <a:ext cx="1353312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Shape 32"/>
          <p:cNvSpPr/>
          <p:nvPr/>
        </p:nvSpPr>
        <p:spPr>
          <a:xfrm>
            <a:off x="5084064" y="1261872"/>
            <a:ext cx="566928" cy="566928"/>
          </a:xfrm>
          <a:prstGeom prst="ellipse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754880" y="1965960"/>
            <a:ext cx="12435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Modéli.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74336" y="2523744"/>
            <a:ext cx="804672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2651760"/>
            <a:ext cx="12435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SVR · LinReg · Dummy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RandomForest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35040" y="2523744"/>
            <a:ext cx="164592" cy="7315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0" name="Text 38"/>
          <p:cNvSpPr/>
          <p:nvPr/>
        </p:nvSpPr>
        <p:spPr>
          <a:xfrm>
            <a:off x="6025896" y="2377440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181344" y="1078992"/>
            <a:ext cx="1353312" cy="31089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81344" y="1078992"/>
            <a:ext cx="1353312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3" name="Shape 41"/>
          <p:cNvSpPr/>
          <p:nvPr/>
        </p:nvSpPr>
        <p:spPr>
          <a:xfrm>
            <a:off x="6565392" y="1261872"/>
            <a:ext cx="566928" cy="566928"/>
          </a:xfrm>
          <a:prstGeom prst="ellipse">
            <a:avLst/>
          </a:prstGeom>
          <a:solidFill>
            <a:srgbClr val="00A896">
              <a:alpha val="20000"/>
            </a:srgbClr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65392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</a:rPr>
              <a:t>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236208" y="1965960"/>
            <a:ext cx="12435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GridSearchCV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55664" y="2523744"/>
            <a:ext cx="804672" cy="3657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7" name="Text 45"/>
          <p:cNvSpPr/>
          <p:nvPr/>
        </p:nvSpPr>
        <p:spPr>
          <a:xfrm>
            <a:off x="6236208" y="2651760"/>
            <a:ext cx="12435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Optimisation hyperparams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RandomForest retenu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516368" y="2523744"/>
            <a:ext cx="164592" cy="73152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9" name="Text 47"/>
          <p:cNvSpPr/>
          <p:nvPr/>
        </p:nvSpPr>
        <p:spPr>
          <a:xfrm>
            <a:off x="7507224" y="2377440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748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7662672" y="1078992"/>
            <a:ext cx="1353312" cy="3108960"/>
          </a:xfrm>
          <a:prstGeom prst="rect">
            <a:avLst/>
          </a:prstGeom>
          <a:solidFill>
            <a:srgbClr val="1F2937"/>
          </a:solidFill>
          <a:ln/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662672" y="1078992"/>
            <a:ext cx="1353312" cy="640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2" name="Shape 50"/>
          <p:cNvSpPr/>
          <p:nvPr/>
        </p:nvSpPr>
        <p:spPr>
          <a:xfrm>
            <a:off x="8046720" y="1261872"/>
            <a:ext cx="566928" cy="566928"/>
          </a:xfrm>
          <a:prstGeom prst="ellipse">
            <a:avLst/>
          </a:prstGeom>
          <a:solidFill>
            <a:srgbClr val="00C896">
              <a:alpha val="20000"/>
            </a:srgbClr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0" y="12618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</a:rPr>
              <a:t>6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717536" y="1965960"/>
            <a:ext cx="124358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Importance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7936992" y="2523744"/>
            <a:ext cx="804672" cy="3657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6" name="Text 54"/>
          <p:cNvSpPr/>
          <p:nvPr/>
        </p:nvSpPr>
        <p:spPr>
          <a:xfrm>
            <a:off x="7717536" y="2651760"/>
            <a:ext cx="12435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Permutation Importance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Top 5 features identifiées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56032" y="4343400"/>
            <a:ext cx="8631936" cy="822960"/>
          </a:xfrm>
          <a:prstGeom prst="rect">
            <a:avLst/>
          </a:prstGeom>
          <a:solidFill>
            <a:srgbClr val="022C22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457200" y="44074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96"/>
                </a:solidFill>
              </a:rPr>
              <a:t>✅  Résultat : RandomForest Regressor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7200" y="47183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</a:rPr>
              <a:t>R²=0.61 · MAE=0.11 · RMSE=0.96  —  Features communes : Energy_per_m² · PropertyGFATotal · PropertyGFABuilding · LargestPropertyUseTypeGFA · age_bat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Data Science — Prédiction Énergie &amp; CO₂ Bâtiments Seattle</dc:title>
  <dc:subject>PptxGenJS Presentation</dc:subject>
  <dc:creator>PptxGenJS</dc:creator>
  <cp:lastModifiedBy>PptxGenJS</cp:lastModifiedBy>
  <cp:revision>1</cp:revision>
  <dcterms:created xsi:type="dcterms:W3CDTF">2026-03-11T22:41:59Z</dcterms:created>
  <dcterms:modified xsi:type="dcterms:W3CDTF">2026-03-11T22:41:59Z</dcterms:modified>
</cp:coreProperties>
</file>